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20"/>
  </p:notesMasterIdLst>
  <p:sldIdLst>
    <p:sldId id="530" r:id="rId2"/>
    <p:sldId id="547" r:id="rId3"/>
    <p:sldId id="531" r:id="rId4"/>
    <p:sldId id="551" r:id="rId5"/>
    <p:sldId id="552" r:id="rId6"/>
    <p:sldId id="553" r:id="rId7"/>
    <p:sldId id="554" r:id="rId8"/>
    <p:sldId id="564" r:id="rId9"/>
    <p:sldId id="565" r:id="rId10"/>
    <p:sldId id="566" r:id="rId11"/>
    <p:sldId id="534" r:id="rId12"/>
    <p:sldId id="555" r:id="rId13"/>
    <p:sldId id="550" r:id="rId14"/>
    <p:sldId id="560" r:id="rId15"/>
    <p:sldId id="561" r:id="rId16"/>
    <p:sldId id="562" r:id="rId17"/>
    <p:sldId id="563" r:id="rId18"/>
    <p:sldId id="54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86C4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F322C-A49B-4D06-BC4F-002946DEA765}" v="33" dt="2026-02-20T15:03:01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A55AA-C1DD-4230-ACB8-88815F941E95}" type="datetimeFigureOut">
              <a:rPr lang="en-IN" smtClean="0"/>
              <a:t>2026-04-05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7CFA9-5133-4769-848F-4B7181E70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1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7CFA9-5133-4769-848F-4B7181E7014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4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164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919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34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40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561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431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04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57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992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07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5061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119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845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58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74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34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455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1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0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  <p:sldLayoutId id="2147483894" r:id="rId18"/>
    <p:sldLayoutId id="2147483895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452" y="29982"/>
            <a:ext cx="11817095" cy="729487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ANALYTICS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8EE63-A40D-BE13-8777-597FCB492F07}"/>
              </a:ext>
            </a:extLst>
          </p:cNvPr>
          <p:cNvSpPr txBox="1"/>
          <p:nvPr/>
        </p:nvSpPr>
        <p:spPr>
          <a:xfrm>
            <a:off x="3849624" y="3154681"/>
            <a:ext cx="5084064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 GROUP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A3F21-F0B4-8B1D-595D-058A040EFDFD}"/>
              </a:ext>
            </a:extLst>
          </p:cNvPr>
          <p:cNvSpPr txBox="1"/>
          <p:nvPr/>
        </p:nvSpPr>
        <p:spPr>
          <a:xfrm>
            <a:off x="5774267" y="4199467"/>
            <a:ext cx="623028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PARTICIPANTS: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KARAN SHARMA</a:t>
            </a:r>
            <a:b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SOUNDARYA GOPI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DIPALI BOTE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SUHAS HALWAI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AKSHAYKUMAR SHINDE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S. BABU</a:t>
            </a:r>
          </a:p>
          <a:p>
            <a:pPr algn="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KIRAN SUTAR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9B874-E02F-C7C2-0960-E3C37AA42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234" y="982968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86445-778D-48E0-78DD-76DDBDE9C231}"/>
              </a:ext>
            </a:extLst>
          </p:cNvPr>
          <p:cNvSpPr txBox="1"/>
          <p:nvPr/>
        </p:nvSpPr>
        <p:spPr>
          <a:xfrm>
            <a:off x="716280" y="235207"/>
            <a:ext cx="932518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Project: E-Commerce Analytics Project</a:t>
            </a:r>
          </a:p>
          <a:p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Dataset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Numbers (KPIs I-V)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 Overview (Screenshot)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Overview (Screenshot)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Overview (Screenshot)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Queries (Screenshot)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Solutions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 and Recommendations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Thought.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F2B04-32DD-73B0-557E-FE87EFF27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6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490240-C3B1-9C75-4939-EC92C1DA979E}"/>
              </a:ext>
            </a:extLst>
          </p:cNvPr>
          <p:cNvSpPr txBox="1"/>
          <p:nvPr/>
        </p:nvSpPr>
        <p:spPr>
          <a:xfrm>
            <a:off x="557784" y="359045"/>
            <a:ext cx="1148791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know the Earning Trend and Customer Churn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“Where is our money coming from and why are customers leaving?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data to find problems to reduce loss.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309ED-984A-DEE5-C0A5-C42A21738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9A02-E966-AB48-B500-28463ECB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7AF2C7-A522-4C39-F209-8921FDBE739C}"/>
              </a:ext>
            </a:extLst>
          </p:cNvPr>
          <p:cNvSpPr txBox="1"/>
          <p:nvPr/>
        </p:nvSpPr>
        <p:spPr>
          <a:xfrm>
            <a:off x="810768" y="768292"/>
            <a:ext cx="106740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Tools and Dataset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9 datasets of </a:t>
            </a:r>
            <a:r>
              <a:rPr lang="en-US" sz="24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details from September 2016 to September 2018.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 MS Excel for cleaning the data with power query, creating data model, 	pivoting and creating visuals.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2.  MySQL for getting results with Exploratory Data Analysis.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3.  Power BI and Tableau for creating visuals and “storytelling”.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07686C-6B44-473E-4692-6AB41EA7A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4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5738-B6F9-3CE7-E7C2-1C78A894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AA7290-9ECB-D8EE-3A56-360E8AE6125A}"/>
              </a:ext>
            </a:extLst>
          </p:cNvPr>
          <p:cNvSpPr txBox="1"/>
          <p:nvPr/>
        </p:nvSpPr>
        <p:spPr>
          <a:xfrm>
            <a:off x="746759" y="720565"/>
            <a:ext cx="1124204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Numbers (KPIs)</a:t>
            </a:r>
          </a:p>
          <a:p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romanUcParenR"/>
            </a:pPr>
            <a:r>
              <a:rPr lang="en-IN" sz="24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Weekday Vs Weekend (</a:t>
            </a:r>
            <a:r>
              <a:rPr lang="en-IN" sz="2400" b="1" i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order_purchase_timestamp</a:t>
            </a:r>
            <a:r>
              <a:rPr lang="en-IN" sz="24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) Payment Statistics</a:t>
            </a:r>
          </a:p>
          <a:p>
            <a:endParaRPr lang="en-IN" sz="2400" b="1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The Findings:</a:t>
            </a:r>
            <a:b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b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a. Almost 80% of business happened on Weekdays.</a:t>
            </a: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b. Average transaction values of Weekend vs Weekdays</a:t>
            </a: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are same (R$ 150).</a:t>
            </a: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c. Massive revenue from Weekdays (R$ 12.37M).</a:t>
            </a:r>
          </a:p>
          <a:p>
            <a:endParaRPr lang="en-IN" sz="2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The Recommendations:</a:t>
            </a:r>
            <a:b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Ensure better customer support, timings, sales/offers,</a:t>
            </a: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and shipping during the Weekdays.</a:t>
            </a:r>
          </a:p>
          <a:p>
            <a:pPr marL="514350" indent="-514350">
              <a:buAutoNum type="romanUcParenR"/>
            </a:pPr>
            <a:endParaRPr lang="en-IN" sz="2400" b="1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C134F-166F-08A5-7C62-68D04C946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567F2F-7737-0203-F34D-6D5AD5E76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095" y="4549270"/>
            <a:ext cx="4472706" cy="1357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26C83E-1CD2-4D62-46BF-AB5EC01844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787" y="2054066"/>
            <a:ext cx="3304437" cy="184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57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9C0D-415C-2B42-FB9F-E84E71BF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566484-AA1E-E21A-40A8-9C219B13A546}"/>
              </a:ext>
            </a:extLst>
          </p:cNvPr>
          <p:cNvSpPr txBox="1"/>
          <p:nvPr/>
        </p:nvSpPr>
        <p:spPr>
          <a:xfrm>
            <a:off x="810768" y="768292"/>
            <a:ext cx="68430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II) </a:t>
            </a:r>
            <a:r>
              <a:rPr lang="en-IN" sz="24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Number of Orders with review score 5 and payment type as credit card</a:t>
            </a:r>
            <a:r>
              <a:rPr lang="en-IN" sz="2400" dirty="0"/>
              <a:t>.</a:t>
            </a:r>
          </a:p>
          <a:p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pPr marL="457200" indent="-457200">
              <a:buAutoNum type="alphaLcPeriod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43.30 K Orders with Credit Card payment and with 5-Star Ratings.</a:t>
            </a:r>
          </a:p>
          <a:p>
            <a:pPr marL="457200" indent="-457200">
              <a:buAutoNum type="alphaL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Happy Credit Card Users are core of the business.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marL="457200" indent="-457200">
              <a:buAutoNum type="alphaL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Credit Card usage with offers/cashback/reward points.</a:t>
            </a:r>
          </a:p>
          <a:p>
            <a:pPr marL="457200" indent="-457200">
              <a:buAutoNum type="alphaL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the other payment methods for better output.</a:t>
            </a:r>
          </a:p>
          <a:p>
            <a:pPr marL="457200" indent="-457200">
              <a:buAutoNum type="alphaL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data security of Credit Card users priority.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46EC8-C989-C229-7372-B685A2562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618EC3-0A2E-7044-20D3-293AEEF84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620" y="1410789"/>
            <a:ext cx="4408380" cy="2399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C3B805-D323-264B-A021-D65949211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808" y="4030135"/>
            <a:ext cx="4682077" cy="15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3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5AB8-33FC-65AB-F009-5AEE5655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16B2A-B911-C2E5-54B2-9C936889F381}"/>
              </a:ext>
            </a:extLst>
          </p:cNvPr>
          <p:cNvSpPr txBox="1"/>
          <p:nvPr/>
        </p:nvSpPr>
        <p:spPr>
          <a:xfrm>
            <a:off x="810769" y="768292"/>
            <a:ext cx="57530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III) </a:t>
            </a:r>
            <a:r>
              <a:rPr lang="en-IN" sz="24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Average number of days taken for </a:t>
            </a:r>
            <a:r>
              <a:rPr lang="en-IN" sz="2400" b="1" i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order_delivered_customer_date</a:t>
            </a:r>
            <a:r>
              <a:rPr lang="en-IN" sz="24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for </a:t>
            </a:r>
            <a:r>
              <a:rPr lang="en-IN" sz="2400" b="1" i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pet_shop</a:t>
            </a:r>
            <a:endParaRPr lang="en-IN" sz="2400" b="1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endParaRPr lang="en-IN" sz="2400" b="1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Findings:</a:t>
            </a:r>
            <a:b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Average number of days for </a:t>
            </a:r>
            <a:r>
              <a:rPr lang="en-IN" sz="2400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pet_shop</a:t>
            </a:r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products is 11 days (good).</a:t>
            </a:r>
          </a:p>
          <a:p>
            <a:endParaRPr lang="en-IN" sz="2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Recommendations:</a:t>
            </a:r>
            <a:b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 . Keep consistency in delivery pattern.</a:t>
            </a: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b. Identify high-urgency items in this category and try to deliver before 11-day benchmark.</a:t>
            </a:r>
          </a:p>
          <a:p>
            <a:r>
              <a:rPr lang="en-IN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c. Can introduce “subscription model” for recurring orders.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00B06-19C8-DB6A-0B4F-19421DA28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2CCFE9-74CF-2EB1-B7FC-CF1D8598D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826" y="1333500"/>
            <a:ext cx="5121173" cy="2747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AF2742-24ED-278B-B2AC-8A8B7DDA9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757" y="4080933"/>
            <a:ext cx="4461242" cy="8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9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2D36-DE90-7900-8E27-6F3565EB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F99408-C536-9B04-73DD-DB7896BEAAEA}"/>
              </a:ext>
            </a:extLst>
          </p:cNvPr>
          <p:cNvSpPr txBox="1"/>
          <p:nvPr/>
        </p:nvSpPr>
        <p:spPr>
          <a:xfrm>
            <a:off x="810769" y="768292"/>
            <a:ext cx="57530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IV) </a:t>
            </a:r>
            <a:r>
              <a:rPr lang="en-IN" sz="24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Average price and payment values from customers of Sao Paulo city</a:t>
            </a:r>
            <a:endParaRPr kumimoji="0" lang="en-IN" sz="24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1" u="none" strike="noStrike" kern="1200" cap="none" spc="0" normalizeH="0" baseline="0" noProof="0" dirty="0">
              <a:ln>
                <a:noFill/>
              </a:ln>
              <a:solidFill>
                <a:srgbClr val="92CDF0">
                  <a:lumMod val="20000"/>
                  <a:lumOff val="80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Findings:</a:t>
            </a:r>
            <a:b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</a:b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a. Difference between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avg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 price and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avg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 payment is significant due to shipping cost (around R$ 40).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92CDF0">
                    <a:lumMod val="20000"/>
                    <a:lumOff val="80000"/>
                  </a:srgbClr>
                </a:solidFill>
                <a:latin typeface="Segoe UI Light"/>
              </a:rPr>
              <a:t>b. Despite high shipping cost customers are buying.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92CDF0">
                  <a:lumMod val="20000"/>
                  <a:lumOff val="80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92CDF0">
                  <a:lumMod val="20000"/>
                  <a:lumOff val="80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Recommendations:</a:t>
            </a:r>
            <a:b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</a:b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 . Consider “Free Shipping </a:t>
            </a:r>
            <a:r>
              <a:rPr lang="en-IN" sz="2400" b="1" dirty="0">
                <a:solidFill>
                  <a:srgbClr val="92CDF0">
                    <a:lumMod val="20000"/>
                    <a:lumOff val="80000"/>
                  </a:srgbClr>
                </a:solidFill>
                <a:latin typeface="Segoe UI Light"/>
              </a:rPr>
              <a:t>Plans” for large orders.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b. Revisit </a:t>
            </a:r>
            <a:r>
              <a:rPr lang="en-IN" sz="2400" b="1" dirty="0">
                <a:solidFill>
                  <a:srgbClr val="92CDF0">
                    <a:lumMod val="20000"/>
                    <a:lumOff val="80000"/>
                  </a:srgbClr>
                </a:solidFill>
                <a:latin typeface="Segoe UI Light"/>
              </a:rPr>
              <a:t>warehousing policy.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92CDF0">
                    <a:lumMod val="20000"/>
                    <a:lumOff val="80000"/>
                  </a:srgbClr>
                </a:solidFill>
                <a:latin typeface="Segoe UI Light"/>
              </a:rPr>
              <a:t>c. Increase “Free Shipping” value limits.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BDF54-7230-A68C-0CDB-4BC70AD98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25994A-08BF-5EF7-D60A-BF9D40219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867" y="1333500"/>
            <a:ext cx="4030133" cy="17453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FB890F-73AE-5BAA-1565-7836C026F1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143487"/>
            <a:ext cx="342900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54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67B5-561E-4138-0AAA-55953890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FCFCF-4123-0FDD-B09F-7AB32C937B5C}"/>
              </a:ext>
            </a:extLst>
          </p:cNvPr>
          <p:cNvSpPr txBox="1"/>
          <p:nvPr/>
        </p:nvSpPr>
        <p:spPr>
          <a:xfrm>
            <a:off x="810769" y="768292"/>
            <a:ext cx="57530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V) </a:t>
            </a:r>
            <a:r>
              <a:rPr lang="en-IN" sz="2400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Relationship between shipping days Vs review scores.</a:t>
            </a:r>
            <a:endParaRPr kumimoji="0" lang="en-IN" sz="24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1" u="none" strike="noStrike" kern="1200" cap="none" spc="0" normalizeH="0" baseline="0" noProof="0" dirty="0">
              <a:ln>
                <a:noFill/>
              </a:ln>
              <a:solidFill>
                <a:srgbClr val="92CDF0">
                  <a:lumMod val="20000"/>
                  <a:lumOff val="80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Findings:</a:t>
            </a:r>
            <a:b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</a:b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a. Review Score shows </a:t>
            </a:r>
            <a:r>
              <a:rPr lang="en-IN" sz="2400" b="1" dirty="0">
                <a:solidFill>
                  <a:srgbClr val="92CDF0">
                    <a:lumMod val="20000"/>
                    <a:lumOff val="80000"/>
                  </a:srgbClr>
                </a:solidFill>
                <a:latin typeface="Segoe UI Light"/>
              </a:rPr>
              <a:t>Stepdown Effect with respect to delivery days.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92CDF0">
                    <a:lumMod val="20000"/>
                    <a:lumOff val="80000"/>
                  </a:srgbClr>
                </a:solidFill>
                <a:latin typeface="Segoe UI Light"/>
              </a:rPr>
              <a:t>b. Beyond 14 days review score becomes 3 (neutral) and for 21 days it becomes 1.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92CDF0">
                  <a:lumMod val="20000"/>
                  <a:lumOff val="80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92CDF0">
                    <a:lumMod val="20000"/>
                    <a:lumOff val="80000"/>
                  </a:srgbClr>
                </a:solidFill>
                <a:latin typeface="Segoe UI Light"/>
              </a:rPr>
              <a:t>b. Delivery within 11 days ensures 5-star.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92CDF0">
                  <a:lumMod val="20000"/>
                  <a:lumOff val="80000"/>
                </a:srgb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Recommendations:</a:t>
            </a:r>
            <a:b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</a:b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92CDF0">
                    <a:lumMod val="20000"/>
                    <a:lumOff val="80000"/>
                  </a:srgb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a . Revisit warehousing policy. Focus on adding storage hubs in regions where ratings are low.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92CDF0">
                    <a:lumMod val="20000"/>
                    <a:lumOff val="80000"/>
                  </a:srgbClr>
                </a:solidFill>
                <a:latin typeface="Segoe UI Light"/>
              </a:rPr>
              <a:t>b. Consider penalty for late vendors.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4C8BA-2D0B-F1CB-550F-622CF6B24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0187E-3C6E-65FE-A6D2-E45FAE61D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1333500"/>
            <a:ext cx="2219635" cy="2494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523213-A3DB-6E7C-2CF1-8853D74AE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00" y="3827559"/>
            <a:ext cx="4368800" cy="281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5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111B-6502-F8B1-9437-B4BDB2DA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6D67F-94CA-6BB1-1D37-59D814CD8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4336"/>
            <a:ext cx="10701867" cy="5703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6EBFFF-3D3B-C42F-A38F-07EDA7219A5A}"/>
              </a:ext>
            </a:extLst>
          </p:cNvPr>
          <p:cNvSpPr txBox="1"/>
          <p:nvPr/>
        </p:nvSpPr>
        <p:spPr>
          <a:xfrm>
            <a:off x="592667" y="180180"/>
            <a:ext cx="57742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EXCEL DASHBOARD SCREENSHOT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2E3B8-33F0-F7D0-50D3-53E1A5F84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29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7153B7-C015-8FD3-21FE-B4B160BFA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5" y="-1"/>
            <a:ext cx="4909790" cy="546845"/>
          </a:xfrm>
        </p:spPr>
        <p:txBody>
          <a:bodyPr/>
          <a:lstStyle/>
          <a:p>
            <a:r>
              <a:rPr lang="en-US"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2B034-C489-417A-81C3-1865B469C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" y="1099845"/>
            <a:ext cx="12045695" cy="5679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91E476-B32C-A344-56AF-F43E5F769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E7B4-5854-545C-889F-CA6AAA31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3F810911-4E44-EE7F-C913-8D28F3171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5" y="-1"/>
            <a:ext cx="4909790" cy="546845"/>
          </a:xfrm>
        </p:spPr>
        <p:txBody>
          <a:bodyPr/>
          <a:lstStyle/>
          <a:p>
            <a:r>
              <a:rPr lang="en-US"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34BDE9-0786-CD4E-745A-3D5B0A2E7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3600"/>
            <a:ext cx="12192000" cy="59927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476FDD-56AE-E95A-882E-80B5267F8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-1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35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77D3-6AFB-9A1B-3EFE-A9B44DA1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79B8CF-89A9-B78E-E893-8BE8F5B40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95350"/>
            <a:ext cx="6096000" cy="4303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58CC3E-04ED-839A-A2D6-08D0219F6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66" y="3429000"/>
            <a:ext cx="8060267" cy="3351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76E0F-1CE3-8569-DF5E-E3250F9D4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578" y="1119650"/>
            <a:ext cx="7349421" cy="43031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9239A-4B56-0476-2D5E-1643CA8EE9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999" y="0"/>
            <a:ext cx="3429000" cy="133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83E91F-0531-45D0-837A-A1F44F96B0FE}"/>
              </a:ext>
            </a:extLst>
          </p:cNvPr>
          <p:cNvSpPr txBox="1"/>
          <p:nvPr/>
        </p:nvSpPr>
        <p:spPr>
          <a:xfrm>
            <a:off x="474135" y="258167"/>
            <a:ext cx="5909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MySQL Queries</a:t>
            </a:r>
          </a:p>
        </p:txBody>
      </p:sp>
    </p:spTree>
    <p:extLst>
      <p:ext uri="{BB962C8B-B14F-4D97-AF65-F5344CB8AC3E}">
        <p14:creationId xmlns:p14="http://schemas.microsoft.com/office/powerpoint/2010/main" val="1720478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9A8F1-5475-BA5A-A772-FBD60D07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05D961-011D-3F13-25ED-8D31B3051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-27470"/>
            <a:ext cx="3429000" cy="13335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3BB3A0-A9F1-DAF4-B2A9-11FF0BC16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150680"/>
              </p:ext>
            </p:extLst>
          </p:nvPr>
        </p:nvGraphicFramePr>
        <p:xfrm>
          <a:off x="710006" y="1591733"/>
          <a:ext cx="11335689" cy="5088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8563">
                  <a:extLst>
                    <a:ext uri="{9D8B030D-6E8A-4147-A177-3AD203B41FA5}">
                      <a16:colId xmlns:a16="http://schemas.microsoft.com/office/drawing/2014/main" val="2640749094"/>
                    </a:ext>
                  </a:extLst>
                </a:gridCol>
                <a:gridCol w="3778563">
                  <a:extLst>
                    <a:ext uri="{9D8B030D-6E8A-4147-A177-3AD203B41FA5}">
                      <a16:colId xmlns:a16="http://schemas.microsoft.com/office/drawing/2014/main" val="2781588410"/>
                    </a:ext>
                  </a:extLst>
                </a:gridCol>
                <a:gridCol w="3778563">
                  <a:extLst>
                    <a:ext uri="{9D8B030D-6E8A-4147-A177-3AD203B41FA5}">
                      <a16:colId xmlns:a16="http://schemas.microsoft.com/office/drawing/2014/main" val="1429259010"/>
                    </a:ext>
                  </a:extLst>
                </a:gridCol>
              </a:tblGrid>
              <a:tr h="59712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WORKAROUND</a:t>
                      </a:r>
                      <a:r>
                        <a:rPr lang="en-US" sz="23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336336"/>
                  </a:ext>
                </a:extLst>
              </a:tr>
              <a:tr h="1644085"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Datasets</a:t>
                      </a:r>
                    </a:p>
                    <a:p>
                      <a:pPr algn="l"/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 performance hampered.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Stopped background refreshing with pivot table, deleted unnecessary columns like blurb from Projects table.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596161"/>
                  </a:ext>
                </a:extLst>
              </a:tr>
              <a:tr h="1258228"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Modeling in Excel, Power BI and Tableau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9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data modeling as per the guideline diagram provided.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876831"/>
                  </a:ext>
                </a:extLst>
              </a:tr>
              <a:tr h="1589216"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Entries with missing values, especially in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Replaced with appropriate placeholders.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919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6E8038-3205-6A09-A1F7-9F836F717D40}"/>
              </a:ext>
            </a:extLst>
          </p:cNvPr>
          <p:cNvSpPr txBox="1"/>
          <p:nvPr/>
        </p:nvSpPr>
        <p:spPr>
          <a:xfrm>
            <a:off x="710860" y="177615"/>
            <a:ext cx="5520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WORKAROUND</a:t>
            </a:r>
          </a:p>
        </p:txBody>
      </p:sp>
    </p:spTree>
    <p:extLst>
      <p:ext uri="{BB962C8B-B14F-4D97-AF65-F5344CB8AC3E}">
        <p14:creationId xmlns:p14="http://schemas.microsoft.com/office/powerpoint/2010/main" val="3946880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47B5-AAC3-D7B5-2240-6DF7BDC6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6BE0B8-23A0-5F93-FA3B-6604CDC27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F595E2-537B-2E89-09E3-EC35CDE8E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68" y="235207"/>
            <a:ext cx="1786128" cy="24767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2EFC32-6A71-06A5-0A2D-66DF420AF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01209"/>
              </p:ext>
            </p:extLst>
          </p:nvPr>
        </p:nvGraphicFramePr>
        <p:xfrm>
          <a:off x="626533" y="1568708"/>
          <a:ext cx="11334496" cy="5054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370">
                  <a:extLst>
                    <a:ext uri="{9D8B030D-6E8A-4147-A177-3AD203B41FA5}">
                      <a16:colId xmlns:a16="http://schemas.microsoft.com/office/drawing/2014/main" val="2640749094"/>
                    </a:ext>
                  </a:extLst>
                </a:gridCol>
                <a:gridCol w="3778563">
                  <a:extLst>
                    <a:ext uri="{9D8B030D-6E8A-4147-A177-3AD203B41FA5}">
                      <a16:colId xmlns:a16="http://schemas.microsoft.com/office/drawing/2014/main" val="2781588410"/>
                    </a:ext>
                  </a:extLst>
                </a:gridCol>
                <a:gridCol w="3778563">
                  <a:extLst>
                    <a:ext uri="{9D8B030D-6E8A-4147-A177-3AD203B41FA5}">
                      <a16:colId xmlns:a16="http://schemas.microsoft.com/office/drawing/2014/main" val="1429259010"/>
                    </a:ext>
                  </a:extLst>
                </a:gridCol>
              </a:tblGrid>
              <a:tr h="654263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WORKAROUND/SOLUTION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336336"/>
                  </a:ext>
                </a:extLst>
              </a:tr>
              <a:tr h="1867252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Loading in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import wizard not working due to large dataset and special characters in dataset.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Converted dataset into UTF-8 CSV for special characters.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LOAD DATA INFILE method to load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341161"/>
                  </a:ext>
                </a:extLst>
              </a:tr>
              <a:tr h="1266285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Problems with theme, colors,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Problems with selection of colors, font sizes, background,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tools helped a lot in this.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148464"/>
                  </a:ext>
                </a:extLst>
              </a:tr>
              <a:tr h="126628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barrier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Presence of Portuguese accent city names with special characters.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power query tools to normalize the city names.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5899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D485F9-0FBD-2563-E744-1B5BCEB74FB4}"/>
              </a:ext>
            </a:extLst>
          </p:cNvPr>
          <p:cNvSpPr txBox="1"/>
          <p:nvPr/>
        </p:nvSpPr>
        <p:spPr>
          <a:xfrm>
            <a:off x="965200" y="235207"/>
            <a:ext cx="501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CHALLENGES AND WORKAROUND</a:t>
            </a:r>
          </a:p>
        </p:txBody>
      </p:sp>
    </p:spTree>
    <p:extLst>
      <p:ext uri="{BB962C8B-B14F-4D97-AF65-F5344CB8AC3E}">
        <p14:creationId xmlns:p14="http://schemas.microsoft.com/office/powerpoint/2010/main" val="3384926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10A7-70C1-F305-8130-E0255280A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34A6AE-0218-CFC7-5B6A-2A2A501FF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2361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12512B-B67D-69AE-176F-4FFD9D171DD8}"/>
              </a:ext>
            </a:extLst>
          </p:cNvPr>
          <p:cNvSpPr txBox="1"/>
          <p:nvPr/>
        </p:nvSpPr>
        <p:spPr>
          <a:xfrm>
            <a:off x="677732" y="778207"/>
            <a:ext cx="1136796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accent3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“Delivery-Rating” Link: Any delivery crossing 14-day benchmark causes crash in ratings from 5 to 1-2.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Almost 80% business happens on Weekdays, though average product value is same for both Weekdays and Weekend.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 Paulo is heart of business, but has high shipping cost.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 Users are “happy customers” (almost 44K with 5-star review).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pet shop customers, delivery threshold is 11 days.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introducing subscription model for recurrent customers, for instance, customers for pet food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Revisit logistics model, consider increasing storage hub to lessen shipping cost for Sao Paulo area.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marketing plan for increasing early week shopping.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late vendor penalty or late delivery discount.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E636138-5DDC-9E65-CED6-00C2AACB5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A06F765-6963-FEDE-D81F-117638BE4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633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4FDA4-F1F0-260C-AF50-871821DE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94EBBE-A2D1-1C16-7D54-E39D992BF562}"/>
              </a:ext>
            </a:extLst>
          </p:cNvPr>
          <p:cNvSpPr txBox="1"/>
          <p:nvPr/>
        </p:nvSpPr>
        <p:spPr>
          <a:xfrm>
            <a:off x="677732" y="778207"/>
            <a:ext cx="113679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Thought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Olist</a:t>
            </a:r>
            <a:r>
              <a:rPr lang="en-US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healthy and growing marketplace. The only obstacles in earning more is the 11-day shipping gap and high shipping cost for city like Sao Paulo. Addressing these things will help retaining customers and making them “loyal”.</a:t>
            </a:r>
          </a:p>
          <a:p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21C7227-0C35-3D90-064F-05DFA1947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CAFD1FD-DB10-4C34-5FCC-18F6B0349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6DA223-3C68-B9AA-3AD8-A04521EBA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1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067" y="1376413"/>
            <a:ext cx="5390629" cy="1674796"/>
          </a:xfrm>
        </p:spPr>
        <p:txBody>
          <a:bodyPr/>
          <a:lstStyle/>
          <a:p>
            <a:r>
              <a:rPr lang="en-US" sz="66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sz="6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D4E65-7E87-CA74-7F11-2AC73801D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34290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3">
    <a:dk1>
      <a:srgbClr val="000000"/>
    </a:dk1>
    <a:lt1>
      <a:srgbClr val="FFFFFF"/>
    </a:lt1>
    <a:dk2>
      <a:srgbClr val="64DFED"/>
    </a:dk2>
    <a:lt2>
      <a:srgbClr val="E7E6E6"/>
    </a:lt2>
    <a:accent1>
      <a:srgbClr val="92CDF0"/>
    </a:accent1>
    <a:accent2>
      <a:srgbClr val="92CDF0"/>
    </a:accent2>
    <a:accent3>
      <a:srgbClr val="ABC3F0"/>
    </a:accent3>
    <a:accent4>
      <a:srgbClr val="C3B9F2"/>
    </a:accent4>
    <a:accent5>
      <a:srgbClr val="AAA5F9"/>
    </a:accent5>
    <a:accent6>
      <a:srgbClr val="F6A6F4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</TotalTime>
  <Words>940</Words>
  <Application>Microsoft Office PowerPoint</Application>
  <PresentationFormat>Widescreen</PresentationFormat>
  <Paragraphs>135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Segoe UI Light</vt:lpstr>
      <vt:lpstr>Times New Roman</vt:lpstr>
      <vt:lpstr>Tw Cen MT</vt:lpstr>
      <vt:lpstr>Wingdings</vt:lpstr>
      <vt:lpstr>1_Office Theme</vt:lpstr>
      <vt:lpstr>E-COMMERCE ANALYTICS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BI DASHBOARD</vt:lpstr>
      <vt:lpstr>Tableau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P</dc:creator>
  <cp:lastModifiedBy>Suhas Halwai</cp:lastModifiedBy>
  <cp:revision>5</cp:revision>
  <dcterms:created xsi:type="dcterms:W3CDTF">2025-06-09T16:31:27Z</dcterms:created>
  <dcterms:modified xsi:type="dcterms:W3CDTF">2026-04-05T08:04:03Z</dcterms:modified>
</cp:coreProperties>
</file>